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193f91d5e4195" /><Relationship Type="http://schemas.openxmlformats.org/officeDocument/2006/relationships/extended-properties" Target="/docProps/app.xml" Id="Rc527ad8963aa47fc" /><Relationship Type="http://schemas.openxmlformats.org/officeDocument/2006/relationships/officeDocument" Target="/ppt/presentation.xml" Id="R8c7666e6096343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1a34477e7a44b7"/>
  </p:sldMasterIdLst>
  <p:notesMasterIdLst>
    <p:notesMasterId xmlns:r="http://schemas.openxmlformats.org/officeDocument/2006/relationships" r:id="R352ae06acea6477c"/>
  </p:notesMasterIdLst>
  <p:sldIdLst>
    <p:sldId xmlns:r="http://schemas.openxmlformats.org/officeDocument/2006/relationships" id="256" r:id="Rc1b0576204a241c6"/>
    <p:sldId xmlns:r="http://schemas.openxmlformats.org/officeDocument/2006/relationships" id="257" r:id="Ra13c58c2f59b44da"/>
    <p:sldId xmlns:r="http://schemas.openxmlformats.org/officeDocument/2006/relationships" id="258" r:id="R2d1a4ac0ed6c451e"/>
    <p:sldId xmlns:r="http://schemas.openxmlformats.org/officeDocument/2006/relationships" id="259" r:id="Reca33496f9914e5c"/>
    <p:sldId xmlns:r="http://schemas.openxmlformats.org/officeDocument/2006/relationships" id="260" r:id="R5eb68e6e513a4dac"/>
    <p:sldId xmlns:r="http://schemas.openxmlformats.org/officeDocument/2006/relationships" id="261" r:id="Rb1b9eccdd04846cc"/>
    <p:sldId xmlns:r="http://schemas.openxmlformats.org/officeDocument/2006/relationships" id="262" r:id="R784c97bb0543401d"/>
    <p:sldId xmlns:r="http://schemas.openxmlformats.org/officeDocument/2006/relationships" id="263" r:id="R3082fffd1a3f41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1bb861e134412" /><Relationship Type="http://schemas.openxmlformats.org/officeDocument/2006/relationships/slideMaster" Target="/ppt/slideMasters/slideMaster1.xml" Id="R771a34477e7a44b7" /><Relationship Type="http://schemas.openxmlformats.org/officeDocument/2006/relationships/notesMaster" Target="/ppt/notesMasters/notesMaster1.xml" Id="R352ae06acea6477c" /><Relationship Type="http://schemas.openxmlformats.org/officeDocument/2006/relationships/presProps" Target="/ppt/presProps.xml" Id="R3ef4cadaf3da42d3" /><Relationship Type="http://schemas.openxmlformats.org/officeDocument/2006/relationships/tableStyles" Target="/ppt/tableStyles.xml" Id="Ra27503f9986f4b70" /><Relationship Type="http://schemas.openxmlformats.org/officeDocument/2006/relationships/slide" Target="/ppt/slides/slide1.xml" Id="Rc1b0576204a241c6" /><Relationship Type="http://schemas.openxmlformats.org/officeDocument/2006/relationships/slide" Target="/ppt/slides/slide2.xml" Id="Ra13c58c2f59b44da" /><Relationship Type="http://schemas.openxmlformats.org/officeDocument/2006/relationships/slide" Target="/ppt/slides/slide3.xml" Id="R2d1a4ac0ed6c451e" /><Relationship Type="http://schemas.openxmlformats.org/officeDocument/2006/relationships/slide" Target="/ppt/slides/slide4.xml" Id="Reca33496f9914e5c" /><Relationship Type="http://schemas.openxmlformats.org/officeDocument/2006/relationships/slide" Target="/ppt/slides/slide5.xml" Id="R5eb68e6e513a4dac" /><Relationship Type="http://schemas.openxmlformats.org/officeDocument/2006/relationships/slide" Target="/ppt/slides/slide6.xml" Id="Rb1b9eccdd04846cc" /><Relationship Type="http://schemas.openxmlformats.org/officeDocument/2006/relationships/slide" Target="/ppt/slides/slide7.xml" Id="R784c97bb0543401d" /><Relationship Type="http://schemas.openxmlformats.org/officeDocument/2006/relationships/slide" Target="/ppt/slides/slide8.xml" Id="R3082fffd1a3f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97f89c2554f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3d8716ef6e4073" /><Relationship Type="http://schemas.openxmlformats.org/officeDocument/2006/relationships/notesMaster" Target="/ppt/notesMasters/notesMaster1.xml" Id="R285ac7cc948646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774e10d8f24811" /><Relationship Type="http://schemas.openxmlformats.org/officeDocument/2006/relationships/notesMaster" Target="/ppt/notesMasters/notesMaster1.xml" Id="R3506eb4800254d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91b5608bc4216" /><Relationship Type="http://schemas.openxmlformats.org/officeDocument/2006/relationships/notesMaster" Target="/ppt/notesMasters/notesMaster1.xml" Id="R33e43001275f4a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542ab9e29643b4" /><Relationship Type="http://schemas.openxmlformats.org/officeDocument/2006/relationships/notesMaster" Target="/ppt/notesMasters/notesMaster1.xml" Id="Ra1ee235ef6d849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f25e49ae4e43c9" /><Relationship Type="http://schemas.openxmlformats.org/officeDocument/2006/relationships/notesMaster" Target="/ppt/notesMasters/notesMaster1.xml" Id="Rea4ba6e868fa4c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aa826c29894c22" /><Relationship Type="http://schemas.openxmlformats.org/officeDocument/2006/relationships/notesMaster" Target="/ppt/notesMasters/notesMaster1.xml" Id="Ra07e64444b4145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b379755cf34b86" /><Relationship Type="http://schemas.openxmlformats.org/officeDocument/2006/relationships/notesMaster" Target="/ppt/notesMasters/notesMaster1.xml" Id="Ra0f604e834734e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7c283f4c0d4adc" /><Relationship Type="http://schemas.openxmlformats.org/officeDocument/2006/relationships/notesMaster" Target="/ppt/notesMasters/notesMaster1.xml" Id="R9c60f6b59b7b47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4288ec96b48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568c2a75e4133" /><Relationship Type="http://schemas.openxmlformats.org/officeDocument/2006/relationships/slideLayout" Target="/ppt/slideLayouts/slideLayout1.xml" Id="R40b6a1036795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b6a1036795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541b840374adc" /><Relationship Type="http://schemas.openxmlformats.org/officeDocument/2006/relationships/notesSlide" Target="/ppt/notesSlides/notesSlide1.xml" Id="R5326f301f0a0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996f5e11745c4" /><Relationship Type="http://schemas.openxmlformats.org/officeDocument/2006/relationships/notesSlide" Target="/ppt/notesSlides/notesSlide2.xml" Id="Reb9c66566c07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3ab2b78ff4570" /><Relationship Type="http://schemas.openxmlformats.org/officeDocument/2006/relationships/notesSlide" Target="/ppt/notesSlides/notesSlide3.xml" Id="R57fd4860e430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7b3225abc41c3" /><Relationship Type="http://schemas.openxmlformats.org/officeDocument/2006/relationships/notesSlide" Target="/ppt/notesSlides/notesSlide4.xml" Id="Redeb5fc6ba0d44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d05ddccd34026" /><Relationship Type="http://schemas.openxmlformats.org/officeDocument/2006/relationships/notesSlide" Target="/ppt/notesSlides/notesSlide5.xml" Id="R68697d4c930a42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0fb37a0f3416a" /><Relationship Type="http://schemas.openxmlformats.org/officeDocument/2006/relationships/notesSlide" Target="/ppt/notesSlides/notesSlide6.xml" Id="Rac406c28fb6441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c06b5e88a4c2c" /><Relationship Type="http://schemas.openxmlformats.org/officeDocument/2006/relationships/notesSlide" Target="/ppt/notesSlides/notesSlide7.xml" Id="Rcc31f33413c741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8046823714f6b" /><Relationship Type="http://schemas.openxmlformats.org/officeDocument/2006/relationships/notesSlide" Target="/ppt/notesSlides/notesSlide8.xml" Id="R08423df0c7144a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C9081-C74C-4016-8F82-5B5D3281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VITE-001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1F8B6-846D-4F0C-8FE9-5A7C65B6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Why poc.myedit.online crashed after Vite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FA13B-2C3C-43A2-ADAE-02B71C7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MUI Popper deep import + Vite 7.3.1 dependency optimizer produced a runtime chunk where styled_default was not callable.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6C068-A524-43FF-BC10-8DC2FF5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49A9"/>
                </a:solidFill>
              </a:defRPr>
            </a:pPr>
            <a:r>
              <a:rPr sz="1650" b="1">
                <a:solidFill>
                  <a:srgbClr val="1849A9"/>
                </a:solidFill>
              </a:rPr>
              <a:t>Fix applied</a:t>
            </a:r>
          </a:p>
          <a:p xmlns:a="http://schemas.openxmlformats.org/drawingml/2006/main">
            <a:pPr algn="ctr">
              <a:defRPr sz="1650" b="1">
                <a:solidFill>
                  <a:srgbClr val="1849A9"/>
                </a:solidFill>
              </a:defRPr>
            </a:pPr>
            <a:r>
              <a:rPr sz="1650" b="1">
                <a:solidFill>
                  <a:srgbClr val="1849A9"/>
                </a:solidFill>
              </a:rPr>
              <a:t>@mui/base/PopperUnstyled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86BA5-076F-4753-A802-55B1ED3E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2026-07-22 / MyEdit local dev</a:t>
            </a:r>
          </a:p>
        </p:txBody>
      </p:sp>
    </p:spTree>
    <p:extLst>
      <p:ext uri="{BB962C8B-B14F-4D97-AF65-F5344CB8AC3E}">
        <p14:creationId xmlns:p14="http://schemas.microsoft.com/office/powerpoint/2010/main" val="4517494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EE37E-5423-4F0A-8D05-64DB27EE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symptom looked like stale Vite cache, but it was repeatable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A374-BEC3-40B3-AE42-24146597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Killing Vite changed chunks, not the underlying optimized module shape.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7B42C-1C99-45C5-AB5C-ACC6469A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A5C06-925E-45D3-9CD9-B03E31BC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935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6EDF7"/>
                </a:solidFill>
              </a:defRPr>
            </a:pPr>
            <a:r>
              <a:rPr sz="1800">
                <a:solidFill>
                  <a:srgbClr val="E6EDF7"/>
                </a:solidFill>
              </a:rPr>
              <a:t>chunk-2ZUFMPUV.js?v=c191bb12:53</a:t>
            </a:r>
          </a:p>
          <a:p xmlns:a="http://schemas.openxmlformats.org/drawingml/2006/main">
            <a:pPr>
              <a:defRPr sz="1800">
                <a:solidFill>
                  <a:srgbClr val="E6EDF7"/>
                </a:solidFill>
              </a:defRPr>
            </a:pPr>
            <a:r>
              <a:rPr sz="1800">
                <a:solidFill>
                  <a:srgbClr val="E6EDF7"/>
                </a:solidFill>
              </a:rPr>
              <a:t>Uncaught TypeError: styled_default is not a function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D42DF-3347-4E8D-AFA1-60944B1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3143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4708"/>
                </a:solidFill>
              </a:defRPr>
            </a:pPr>
            <a:r>
              <a:rPr sz="1650" b="1">
                <a:solidFill>
                  <a:srgbClr val="B54708"/>
                </a:solidFill>
              </a:rPr>
              <a:t>Old workaround</a:t>
            </a:r>
          </a:p>
          <a:p xmlns:a="http://schemas.openxmlformats.org/drawingml/2006/main">
            <a:pPr algn="ctr">
              <a:defRPr sz="1650" b="1">
                <a:solidFill>
                  <a:srgbClr val="B54708"/>
                </a:solidFill>
              </a:defRPr>
            </a:pPr>
            <a:r>
              <a:rPr sz="1650" b="1">
                <a:solidFill>
                  <a:srgbClr val="B54708"/>
                </a:solidFill>
              </a:rPr>
              <a:t>Kill Vite / restart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95193-4EF1-4B75-A64B-FBE07101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New finding</a:t>
            </a:r>
          </a:p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The regenerated chunk still mapped to MUI Popper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C90F8-F5D3-4214-AD9D-152BA98C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First-load checks need patience: /src/index.jsx took about 30 seconds after forced re-optimization. Use a 120-second timeout before calling it stuck.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4EBE2-5D24-481F-85C5-8893F4F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VITE-001 / 2</a:t>
            </a:r>
          </a:p>
        </p:txBody>
      </p:sp>
    </p:spTree>
    <p:extLst>
      <p:ext uri="{BB962C8B-B14F-4D97-AF65-F5344CB8AC3E}">
        <p14:creationId xmlns:p14="http://schemas.microsoft.com/office/powerpoint/2010/main" val="19995301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2300A-4ECE-4B1C-9852-F2348B63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source imported a styled wrapper when it only needed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1E2DA-E0C9-4FA8-8AB6-2892E316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failing path began in ImageUploadStrip.jsx.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6AEBA-8F05-4995-966D-A7D5E71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7AE3A-7744-4781-B51F-4B92955E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935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6EDF7"/>
                </a:solidFill>
              </a:defRPr>
            </a:pPr>
            <a:r>
              <a:rPr sz="1725">
                <a:solidFill>
                  <a:srgbClr val="E6EDF7"/>
                </a:solidFill>
              </a:rPr>
              <a:t>// before</a:t>
            </a:r>
          </a:p>
          <a:p xmlns:a="http://schemas.openxmlformats.org/drawingml/2006/main">
            <a:pPr>
              <a:defRPr sz="1725">
                <a:solidFill>
                  <a:srgbClr val="E6EDF7"/>
                </a:solidFill>
              </a:defRPr>
            </a:pPr>
            <a:r>
              <a:rPr sz="1725">
                <a:solidFill>
                  <a:srgbClr val="E6EDF7"/>
                </a:solidFill>
              </a:rPr>
              <a:t>import Popper from "@mui/material/Popper";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36454-0EA0-457E-B6B5-D5EE09F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Vite optimized this deep import into .vite/deps. The generated chunk mapped to @mui/material/Popper/Popper.js and called styled_default(...).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2DB73-A8D3-4BA8-9063-BE6084AF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714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Material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Popper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E79FA-4B4F-4FA0-9D3A-7CD5D34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05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993DF-8576-49C4-B861-25DA5A3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2375"/>
            <a:ext cx="1809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MUI styled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8DCC8-C277-4FDA-B551-E1F77476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005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C2CF0-48E5-4D85-8BB1-C51455C9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1809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Vite split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0630A-F146-4432-944F-0D168884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C3CC3-9024-4762-AF5C-DAB19870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62375"/>
            <a:ext cx="1714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Runtime</a:t>
            </a:r>
          </a:p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crash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3B4C3-99CF-44C1-B471-3518789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VITE-001 / 3</a:t>
            </a:r>
          </a:p>
        </p:txBody>
      </p:sp>
    </p:spTree>
    <p:extLst>
      <p:ext uri="{BB962C8B-B14F-4D97-AF65-F5344CB8AC3E}">
        <p14:creationId xmlns:p14="http://schemas.microsoft.com/office/powerpoint/2010/main" val="9889299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9D934-7A34-488F-A36E-664A1F8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page crashes before the app finishes loading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C1D1E-9CB8-4BFA-94C9-14D7D3D9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This is dependency optimizer output, not a product runtime branch.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B330F-5D5B-4AE5-8664-EB6F15B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41D81-F978-49D8-A328-FD1749DA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npm run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1C47B-C1E7-4EA1-BB23-AC902099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526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7906C-ED58-469F-9C25-EE92DCDE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43125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Vite serves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012EB-B15C-446A-B0D3-1A79F852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526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9EB77-09DF-4B75-8216-CAA740D8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Browser loads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/src/index.jsx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79C43-8022-4FB6-A5F1-3D0F26D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526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AD442-7FF0-4F1A-A165-7E35A5CB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Optimizer serves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.vite/deps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C2864-12AF-4335-B34A-6A45C7E7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4000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0990D-729F-47A7-91AF-84AB5F17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48125"/>
            <a:ext cx="2428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@mui/material/Popper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CE0B1-9B2E-4C72-89BA-E25E6A90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1EDBD-CA99-40C6-99BA-D93176ED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2428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styled_default</a:t>
            </a:r>
          </a:p>
          <a:p xmlns:a="http://schemas.openxmlformats.org/drawingml/2006/main">
            <a:pPr algn="ctr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called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E9EC2-BC9D-4B29-A603-CC2D6C3E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86250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2539A-C5D6-4DB3-8FD8-09FB27C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48125"/>
            <a:ext cx="200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Page crashes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B89F3-0D85-4BC5-BEED-B4AB2509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The module graph fails during dependency loading, so the app never reaches normal feature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69EB0-731E-4EA3-9013-AFD32FA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VITE-001 / 4</a:t>
            </a:r>
          </a:p>
        </p:txBody>
      </p:sp>
    </p:spTree>
    <p:extLst>
      <p:ext uri="{BB962C8B-B14F-4D97-AF65-F5344CB8AC3E}">
        <p14:creationId xmlns:p14="http://schemas.microsoft.com/office/powerpoint/2010/main" val="2390460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72BE4-927C-41FF-818C-E53EBE37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JavaScript layer view: the bad edge is the styled wrapper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4AEF8-9A77-4FC7-BB1A-48C2D4B7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source component only required base Popper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F9B0B-CBE8-4287-8120-F9589B5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0B6CC-67B8-4FFD-A6C1-2A80F519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React component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ImageUploadStrip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075FE-4248-4BAD-AC80-4DB7BA37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19375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4A22C-C4C0-4227-9082-0209610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286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Deep import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@mui/material/Popper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C2C90-2E69-4FDF-B931-C04AFD5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BA006-B530-42F9-ABB0-0CC09076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716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Styled wrapper</a:t>
            </a:r>
          </a:p>
          <a:p xmlns:a="http://schemas.openxmlformats.org/drawingml/2006/main">
            <a:pPr algn="ctr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PopperRoot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E78BF-1DB1-4A0B-ADFF-957AFB31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6E50C-1CF9-4D00-919C-4EF7AD97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49A9"/>
                </a:solidFill>
              </a:defRPr>
            </a:pPr>
            <a:r>
              <a:rPr sz="1500" b="1">
                <a:solidFill>
                  <a:srgbClr val="1849A9"/>
                </a:solidFill>
              </a:rPr>
              <a:t>Browser ESM</a:t>
            </a:r>
          </a:p>
          <a:p xmlns:a="http://schemas.openxmlformats.org/drawingml/2006/main">
            <a:pPr algn="ctr">
              <a:defRPr sz="1500" b="1">
                <a:solidFill>
                  <a:srgbClr val="1849A9"/>
                </a:solidFill>
              </a:defRPr>
            </a:pPr>
            <a:r>
              <a:rPr sz="1500" b="1">
                <a:solidFill>
                  <a:srgbClr val="1849A9"/>
                </a:solidFill>
              </a:rPr>
              <a:t>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0459E-3CB6-4432-81BA-68B0FD98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solidFill>
              <a:srgbClr val="0398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85314-8F53-433E-9243-60D11851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4325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Base primitive</a:t>
            </a:r>
          </a:p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PopperUnstyled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BD630-EFFC-4E53-A8DA-B5E97A2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29000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solidFill>
              <a:srgbClr val="0398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B9418-5EB7-4B16-9860-1ED5E14E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Fix: route this component through the green path. Keep custom styling in local Box/sx and use the base primitive for positioning.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FDE06-8501-45FF-9E0D-2AAD03C9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VITE-001 / 5</a:t>
            </a:r>
          </a:p>
        </p:txBody>
      </p:sp>
    </p:spTree>
    <p:extLst>
      <p:ext uri="{BB962C8B-B14F-4D97-AF65-F5344CB8AC3E}">
        <p14:creationId xmlns:p14="http://schemas.microsoft.com/office/powerpoint/2010/main" val="1974644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1AC72-4103-4CA2-8672-BD345C1A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robust fix removes the unnecessary styled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B2152-97EA-4197-8958-1EA78A9E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This is safer than relying on cache rebuilds or optimizer luck.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B0FBE-5EE1-4BB3-872D-164A5CB8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95507-396E-4966-A0DE-256D20BA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935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6EDF7"/>
                </a:solidFill>
              </a:defRPr>
            </a:pPr>
            <a:r>
              <a:rPr sz="1800">
                <a:solidFill>
                  <a:srgbClr val="E6EDF7"/>
                </a:solidFill>
              </a:rPr>
              <a:t>- import Popper from "@mui/material/Popper";</a:t>
            </a:r>
          </a:p>
          <a:p xmlns:a="http://schemas.openxmlformats.org/drawingml/2006/main">
            <a:pPr>
              <a:defRPr sz="1800">
                <a:solidFill>
                  <a:srgbClr val="E6EDF7"/>
                </a:solidFill>
              </a:defRPr>
            </a:pPr>
            <a:r>
              <a:rPr sz="1800">
                <a:solidFill>
                  <a:srgbClr val="E6EDF7"/>
                </a:solidFill>
              </a:rPr>
              <a:t>+ import Popper from "@mui/base/PopperUnstyled";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0A451-DE8A-4BAF-930B-B960025D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Why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E5D25-2B59-44DC-B001-2EF7BFB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The component already owns visual style through Box and sx. PopperUnstyled preserves anchor positioning without invoking the Material styled wrapper.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902B7-48DA-40B1-A4EF-10A19102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Props 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21513-D582-4BF7-BE72-34EC4AC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42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05FB2-ECD8-462E-8414-F64E7320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76750"/>
            <a:ext cx="142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anchorEl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ECBAE-7F52-4B3B-84A7-C7018A5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76750"/>
            <a:ext cx="142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74250-1C68-4F6A-AFA9-8DDA9F23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76750"/>
            <a:ext cx="142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modifiers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22281-D8BF-4BF3-BF53-1F2BE87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142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style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70561-2461-4765-9BA2-D08AB431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VITE-001 / 6</a:t>
            </a:r>
          </a:p>
        </p:txBody>
      </p:sp>
    </p:spTree>
    <p:extLst>
      <p:ext uri="{BB962C8B-B14F-4D97-AF65-F5344CB8AC3E}">
        <p14:creationId xmlns:p14="http://schemas.microsoft.com/office/powerpoint/2010/main" val="11080562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C8879-3428-49BB-A864-7AD6A4E9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Vite 8 likely fixes the crash by changing the optimizer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427CB-4A70-483D-A8D1-C87ACD9E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upgrade changes the dependency optimization pipeline, not the original source requirement.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E4DF7-3C57-4758-9F82-EFA51FC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CB46E-66FE-4DAE-87CC-B5FB5EE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Vite 7.3.1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B1BCB-73D2-4869-B4D4-0BEF6692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54708"/>
                </a:solidFill>
              </a:defRPr>
            </a:pPr>
            <a:r>
              <a:rPr sz="1575" b="1">
                <a:solidFill>
                  <a:srgbClr val="B54708"/>
                </a:solidFill>
              </a:rPr>
              <a:t>@mui/material/Popper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03563-40C8-4B6D-9BB3-B019B87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43521-149D-4549-9DBE-D944169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54708"/>
                </a:solidFill>
              </a:defRPr>
            </a:pPr>
            <a:r>
              <a:rPr sz="1575" b="1">
                <a:solidFill>
                  <a:srgbClr val="B54708"/>
                </a:solidFill>
              </a:rPr>
              <a:t>esbuild</a:t>
            </a:r>
          </a:p>
          <a:p xmlns:a="http://schemas.openxmlformats.org/drawingml/2006/main">
            <a:pPr algn="ctr">
              <a:defRPr sz="1575" b="1">
                <a:solidFill>
                  <a:srgbClr val="B54708"/>
                </a:solidFill>
              </a:defRPr>
            </a:pPr>
            <a:r>
              <a:rPr sz="1575" b="1">
                <a:solidFill>
                  <a:srgbClr val="B54708"/>
                </a:solidFill>
              </a:rPr>
              <a:t>optimizeDeps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EA424-347C-45DD-B528-0DD5851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FE063-C176-4153-845E-B13DE59F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split chunk calls</a:t>
            </a:r>
          </a:p>
          <a:p xmlns:a="http://schemas.openxmlformats.org/drawingml/2006/main">
            <a:pPr algn="ctr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styled_default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36A1-0468-43CD-9BA5-7F849CC7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83534-D0F4-452C-844E-FA83EF44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857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crash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40A0B-AD99-43C6-A69D-E7237C1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Vite 8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79EED-76DB-4B38-A72B-66EAC18B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49A9"/>
                </a:solidFill>
              </a:defRPr>
            </a:pPr>
            <a:r>
              <a:rPr sz="1575" b="1">
                <a:solidFill>
                  <a:srgbClr val="1849A9"/>
                </a:solidFill>
              </a:rPr>
              <a:t>@mui/material/Popper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E6927-AC7F-43DB-8450-8AE42F9F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F4620-6134-467F-ABCA-31E2CA5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49A9"/>
                </a:solidFill>
              </a:defRPr>
            </a:pPr>
            <a:r>
              <a:rPr sz="1575" b="1">
                <a:solidFill>
                  <a:srgbClr val="1849A9"/>
                </a:solidFill>
              </a:rPr>
              <a:t>Rolldown</a:t>
            </a:r>
          </a:p>
          <a:p xmlns:a="http://schemas.openxmlformats.org/drawingml/2006/main">
            <a:pPr algn="ctr">
              <a:defRPr sz="1575" b="1">
                <a:solidFill>
                  <a:srgbClr val="1849A9"/>
                </a:solidFill>
              </a:defRPr>
            </a:pPr>
            <a:r>
              <a:rPr sz="1575" b="1">
                <a:solidFill>
                  <a:srgbClr val="1849A9"/>
                </a:solidFill>
              </a:rPr>
              <a:t>optimizeDeps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3A991-0EC0-4E30-8E73-A630A54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solidFill>
              <a:srgbClr val="0398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E0DB0-4636-442A-83C8-1E1F9006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different ESM</a:t>
            </a:r>
          </a:p>
          <a:p xmlns:a="http://schemas.openxmlformats.org/drawingml/2006/main">
            <a:pPr algn="ctr">
              <a:defRPr sz="1500" b="1">
                <a:solidFill>
                  <a:srgbClr val="039855"/>
                </a:solidFill>
              </a:defRPr>
            </a:pPr>
            <a:r>
              <a:rPr sz="1500" b="1">
                <a:solidFill>
                  <a:srgbClr val="039855"/>
                </a:solidFill>
              </a:rPr>
              <a:t>chunk shape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2C33C-E404-415F-B57B-A660C8D2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0">
            <a:solidFill>
              <a:srgbClr val="0398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19A22-FCB9-4FF2-8DA2-B13A582D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0"/>
            <a:ext cx="857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9855"/>
                </a:solidFill>
              </a:defRPr>
            </a:pPr>
            <a:r>
              <a:rPr sz="1650" b="1">
                <a:solidFill>
                  <a:srgbClr val="039855"/>
                </a:solidFill>
              </a:rPr>
              <a:t>loads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D350F-98F9-489F-B3CB-64B4117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Interpretation: Vite 8 is a plausible architectural mitigation because its dependency optimizer uses Rolldown instead of esbuild. The source-level fix is still cleaner when the component only needs positioning.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BEDD5-A4F5-4C67-BB47-1A0B379D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VITE-001 / 7</a:t>
            </a:r>
          </a:p>
        </p:txBody>
      </p:sp>
    </p:spTree>
    <p:extLst>
      <p:ext uri="{BB962C8B-B14F-4D97-AF65-F5344CB8AC3E}">
        <p14:creationId xmlns:p14="http://schemas.microsoft.com/office/powerpoint/2010/main" val="1534246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A86E7-BC32-4178-B971-821B88E6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Import the smallest layer that matches the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A50BE-0F81-46EE-BB45-FF42428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Vite upgrades can change optimizer output, so reduce fragile styled-wrapper edges.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178C7-9B18-4FE1-889A-579BB4D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15378-F7CC-4C08-93FB-B6FBE61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9855"/>
                </a:solidFill>
              </a:defRPr>
            </a:pPr>
            <a:r>
              <a:rPr sz="1650" b="1">
                <a:solidFill>
                  <a:srgbClr val="039855"/>
                </a:solidFill>
              </a:rPr>
              <a:t>Write this way</a:t>
            </a:r>
          </a:p>
          <a:p xmlns:a="http://schemas.openxmlformats.org/drawingml/2006/main">
            <a:pPr algn="ctr">
              <a:defRPr sz="1650" b="1">
                <a:solidFill>
                  <a:srgbClr val="039855"/>
                </a:solidFill>
              </a:defRPr>
            </a:pPr>
            <a:r>
              <a:rPr sz="1650" b="1">
                <a:solidFill>
                  <a:srgbClr val="039855"/>
                </a:solidFill>
              </a:rPr>
              <a:t>Base primitive for behavior-only overlays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1C87-07FE-4419-ACDD-F772FEC6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Avoid this pattern</a:t>
            </a:r>
          </a:p>
          <a:p xmlns:a="http://schemas.openxmlformats.org/drawingml/2006/main">
            <a:pPr algn="ctr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Styled Material wrapper when local styling is already custom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C056B-9E66-44AB-93FD-93B07020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54708"/>
                </a:solidFill>
              </a:defRPr>
            </a:pPr>
            <a:r>
              <a:rPr sz="1575" b="1">
                <a:solidFill>
                  <a:srgbClr val="B54708"/>
                </a:solidFill>
              </a:rPr>
              <a:t>Upgrade note</a:t>
            </a:r>
          </a:p>
          <a:p xmlns:a="http://schemas.openxmlformats.org/drawingml/2006/main">
            <a:pPr algn="ctr">
              <a:defRPr sz="1575" b="1">
                <a:solidFill>
                  <a:srgbClr val="B54708"/>
                </a:solidFill>
              </a:defRPr>
            </a:pPr>
            <a:r>
              <a:rPr sz="1575" b="1">
                <a:solidFill>
                  <a:srgbClr val="B54708"/>
                </a:solidFill>
              </a:rPr>
              <a:t>Changing Vite may rename the chunk, not remove the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72D95-EA0C-4D16-B812-CE90C5E8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48BE2-ECD4-430D-9DF6-9D96393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Inspect .vite/deps chunk source comments.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2. Map optimized module back to the app import.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Prefer source import changes over process killing.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Validate with npm run start -- --force.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5. Allow 120 seconds for first-load module graph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75D93-31C5-43B3-B754-8C7982F1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VITE-001 / 8</a:t>
            </a:r>
          </a:p>
        </p:txBody>
      </p:sp>
    </p:spTree>
    <p:extLst>
      <p:ext uri="{BB962C8B-B14F-4D97-AF65-F5344CB8AC3E}">
        <p14:creationId xmlns:p14="http://schemas.microsoft.com/office/powerpoint/2010/main" val="1404921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2026-07-22T04:13:49.0360000Z</dcterms:created>
  <dcterms:modified xsi:type="dcterms:W3CDTF">2026-07-22T04:13:49.0370000Z</dcterms:modified>
</coreProperties>
</file>